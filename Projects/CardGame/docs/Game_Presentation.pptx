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9" r:id="rId2"/>
    <p:sldId id="289" r:id="rId3"/>
    <p:sldId id="282" r:id="rId4"/>
    <p:sldId id="270" r:id="rId5"/>
    <p:sldId id="260" r:id="rId6"/>
    <p:sldId id="286" r:id="rId7"/>
    <p:sldId id="271" r:id="rId8"/>
    <p:sldId id="287" r:id="rId9"/>
    <p:sldId id="273" r:id="rId10"/>
    <p:sldId id="275" r:id="rId11"/>
    <p:sldId id="276" r:id="rId12"/>
    <p:sldId id="279" r:id="rId13"/>
    <p:sldId id="277" r:id="rId14"/>
    <p:sldId id="280" r:id="rId15"/>
    <p:sldId id="281" r:id="rId16"/>
    <p:sldId id="284" r:id="rId17"/>
    <p:sldId id="283" r:id="rId18"/>
    <p:sldId id="288" r:id="rId19"/>
    <p:sldId id="285" r:id="rId20"/>
    <p:sldId id="290" r:id="rId21"/>
  </p:sldIdLst>
  <p:sldSz cx="14400213" cy="7920038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40064-AA59-468D-8D5E-2B22B53779D6}" v="2" dt="2025-12-19T09:19:54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6" d="100"/>
          <a:sy n="56" d="100"/>
        </p:scale>
        <p:origin x="9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296173"/>
            <a:ext cx="10800160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159854"/>
            <a:ext cx="1080016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7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8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1974511"/>
            <a:ext cx="12420184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5300193"/>
            <a:ext cx="12420184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82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82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82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29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108344"/>
            <a:ext cx="612009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108344"/>
            <a:ext cx="6120091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49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21669"/>
            <a:ext cx="12420184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1941510"/>
            <a:ext cx="6091965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2893014"/>
            <a:ext cx="6091965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1941510"/>
            <a:ext cx="6121966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2893014"/>
            <a:ext cx="6121966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1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55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28002"/>
            <a:ext cx="464444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140340"/>
            <a:ext cx="7290108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376011"/>
            <a:ext cx="464444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1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28002"/>
            <a:ext cx="464444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140340"/>
            <a:ext cx="7290108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376011"/>
            <a:ext cx="464444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09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77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21669"/>
            <a:ext cx="3105046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21669"/>
            <a:ext cx="9135135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4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21669"/>
            <a:ext cx="12420184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108344"/>
            <a:ext cx="12420184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7340702"/>
            <a:ext cx="324004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D9ACE2-17A5-47FD-9CBC-0A4D341E2FD1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7340702"/>
            <a:ext cx="4860072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7340702"/>
            <a:ext cx="3240048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2D10E-D362-47B6-87F8-15F041056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46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fiatlanstic2020.univ-nantes.fr/doku.php?id=public:js" TargetMode="Externa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microsoft.com/office/2007/relationships/hdphoto" Target="../media/hdphoto6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9.wdp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game.org/docs" TargetMode="External"/><Relationship Id="rId2" Type="http://schemas.openxmlformats.org/officeDocument/2006/relationships/hyperlink" Target="https://docs.python.org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5A382-A695-DCE1-AFDF-28D318C0E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6AE4A9A-59B6-8BFB-E7A1-A02AF5344B74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40AA11-71F0-F3DE-34D2-12A0E710D195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099E96F4-BB82-A2F4-994A-19903785F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69" y="362309"/>
            <a:ext cx="13577975" cy="7228936"/>
          </a:xfrm>
          <a:prstGeom prst="rect">
            <a:avLst/>
          </a:prstGeom>
        </p:spPr>
      </p:pic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131F02F-3D11-4EF7-8F63-CCF5E2DCA2D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alphaModFix amt="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2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573" y="414068"/>
            <a:ext cx="13491713" cy="710816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807B75-05DB-3BA6-774F-5254C9D0DEC7}"/>
              </a:ext>
            </a:extLst>
          </p:cNvPr>
          <p:cNvSpPr txBox="1"/>
          <p:nvPr/>
        </p:nvSpPr>
        <p:spPr>
          <a:xfrm>
            <a:off x="9816865" y="6901133"/>
            <a:ext cx="39336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noProof="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Prepared by:  Sena - Denos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EEC32-5D71-6891-AE51-8F796A2880B6}"/>
              </a:ext>
            </a:extLst>
          </p:cNvPr>
          <p:cNvSpPr/>
          <p:nvPr/>
        </p:nvSpPr>
        <p:spPr>
          <a:xfrm>
            <a:off x="11421374" y="690113"/>
            <a:ext cx="2122098" cy="103517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/>
                </a:ext>
                <a:ext uri="{837473B0-CC2E-450A-ABE3-18F120FF3D39}">
                  <a1611:picAttrSrcUrl xmlns:a1611="http://schemas.microsoft.com/office/drawing/2016/11/main" r:id="rId6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62EE0-B9E5-1E0B-B20D-8B2958792617}"/>
              </a:ext>
            </a:extLst>
          </p:cNvPr>
          <p:cNvSpPr txBox="1"/>
          <p:nvPr/>
        </p:nvSpPr>
        <p:spPr>
          <a:xfrm>
            <a:off x="759127" y="6866627"/>
            <a:ext cx="23118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Dec 12, 2025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0A737-AC4C-BEC0-3EE4-72BBA7248F13}"/>
              </a:ext>
            </a:extLst>
          </p:cNvPr>
          <p:cNvSpPr txBox="1"/>
          <p:nvPr/>
        </p:nvSpPr>
        <p:spPr>
          <a:xfrm>
            <a:off x="12007973" y="2277373"/>
            <a:ext cx="1587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2025-2026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98AE1-5DCA-3D98-0A95-65E2E4A87439}"/>
              </a:ext>
            </a:extLst>
          </p:cNvPr>
          <p:cNvSpPr txBox="1"/>
          <p:nvPr/>
        </p:nvSpPr>
        <p:spPr>
          <a:xfrm>
            <a:off x="11576653" y="1863305"/>
            <a:ext cx="243265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M1 CORO DASSIP</a:t>
            </a:r>
            <a:r>
              <a:rPr lang="en-US" sz="19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1887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E0DF6-A026-B2ED-6A56-CD1758BE0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9B5A5FB-9AD5-89A4-D596-CC2112A80466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4D695B-E1B4-10BF-7E60-FE77605836BF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Media4">
            <a:hlinkClick r:id="" action="ppaction://media"/>
            <a:extLst>
              <a:ext uri="{FF2B5EF4-FFF2-40B4-BE49-F238E27FC236}">
                <a16:creationId xmlns:a16="http://schemas.microsoft.com/office/drawing/2014/main" id="{A6F80ACD-BFBF-3122-92C0-AB922C006DC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>
            <a:lum bright="20000" contrast="-40000"/>
          </a:blip>
          <a:stretch>
            <a:fillRect/>
          </a:stretch>
        </p:blipFill>
        <p:spPr>
          <a:xfrm>
            <a:off x="465828" y="339363"/>
            <a:ext cx="13439954" cy="7217375"/>
          </a:xfrm>
          <a:prstGeom prst="rect">
            <a:avLst/>
          </a:prstGeom>
          <a:ln>
            <a:noFill/>
          </a:ln>
          <a:effectLst>
            <a:glow rad="228600">
              <a:srgbClr val="FFFFFF">
                <a:alpha val="40000"/>
              </a:srgbClr>
            </a:glow>
          </a:effectLst>
          <a:scene3d>
            <a:camera prst="orthographicFront"/>
            <a:lightRig rig="threePt" dir="t">
              <a:rot lat="0" lon="0" rev="2100000"/>
            </a:lightRig>
          </a:scene3d>
          <a:sp3d>
            <a:bevelT w="152400" h="101600" prst="slope"/>
          </a:sp3d>
        </p:spPr>
      </p:pic>
    </p:spTree>
    <p:extLst>
      <p:ext uri="{BB962C8B-B14F-4D97-AF65-F5344CB8AC3E}">
        <p14:creationId xmlns:p14="http://schemas.microsoft.com/office/powerpoint/2010/main" val="345097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1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7F0A6-89D7-30C0-64D4-1BE321BC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52BEBF-2C4B-04CA-A745-D932A0411EA6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834BA4-F141-676E-2787-FA6C1F8479DB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2ABD0D-FF99-2452-E93A-136AF4AABF5D}"/>
              </a:ext>
            </a:extLst>
          </p:cNvPr>
          <p:cNvSpPr txBox="1"/>
          <p:nvPr/>
        </p:nvSpPr>
        <p:spPr>
          <a:xfrm>
            <a:off x="513271" y="357680"/>
            <a:ext cx="10597552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solidFill>
                  <a:srgbClr val="FFC000"/>
                </a:solidFill>
                <a:latin typeface="Poppins"/>
              </a:rPr>
              <a:t>AGENDA </a:t>
            </a:r>
            <a:endParaRPr lang="en-US" sz="1050" noProof="0" dirty="0">
              <a:solidFill>
                <a:srgbClr val="FFC000"/>
              </a:solidFill>
            </a:endParaRPr>
          </a:p>
        </p:txBody>
      </p:sp>
      <p:sp>
        <p:nvSpPr>
          <p:cNvPr id="5" name="TextBox 37">
            <a:extLst>
              <a:ext uri="{FF2B5EF4-FFF2-40B4-BE49-F238E27FC236}">
                <a16:creationId xmlns:a16="http://schemas.microsoft.com/office/drawing/2014/main" id="{3A32C94D-228D-58D8-B409-43B5B57AB29A}"/>
              </a:ext>
            </a:extLst>
          </p:cNvPr>
          <p:cNvSpPr txBox="1"/>
          <p:nvPr/>
        </p:nvSpPr>
        <p:spPr>
          <a:xfrm>
            <a:off x="2812211" y="931652"/>
            <a:ext cx="9747849" cy="6055743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lIns="0" tIns="0" rIns="0" bIns="0" rtlCol="0" anchor="ctr"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Project Context  &amp; Architecture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SDLC timeline &amp; Functional Test Cases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OOP in the project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Key code snippets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Sequence diagram (one round)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Game demo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/>
            </a:pPr>
            <a:r>
              <a:rPr lang="en-US" sz="32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 Perspectives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846432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0AFDA-829A-53F1-867F-0F75047BF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32F1A47-E10A-CDA0-3D88-A2E0CF3A5443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2F4800-0FEC-061D-17A8-56C4C6F49769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A7321-B93C-A261-BC9F-13CDEA9BC351}"/>
              </a:ext>
            </a:extLst>
          </p:cNvPr>
          <p:cNvSpPr txBox="1"/>
          <p:nvPr/>
        </p:nvSpPr>
        <p:spPr>
          <a:xfrm>
            <a:off x="513271" y="357680"/>
            <a:ext cx="10597552" cy="719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3600" b="1" noProof="0" dirty="0">
                <a:solidFill>
                  <a:srgbClr val="FFC000"/>
                </a:solidFill>
                <a:latin typeface="Poppins"/>
              </a:rPr>
              <a:t>PROJECT CONTEXT </a:t>
            </a:r>
            <a:endParaRPr lang="en-US" sz="1200" noProof="0" dirty="0">
              <a:solidFill>
                <a:srgbClr val="FFC00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F8FE86-5619-CA21-E736-E13995F06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0922" y="3611253"/>
            <a:ext cx="5106836" cy="378565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Goal: </a:t>
            </a: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Player bets, chooses a card, system resolves win/loss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Features: </a:t>
            </a: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Betting logic, state machine, dashboard, history 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Tools: </a:t>
            </a: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Python, Pygame for graphics, JSON for data storage.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sz="2000" b="1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Timeline: </a:t>
            </a: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Planned and delivered between Oct–Dec 2025.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83EDC-C8BF-DDA0-E600-CF3D8E9800F8}"/>
              </a:ext>
            </a:extLst>
          </p:cNvPr>
          <p:cNvSpPr txBox="1"/>
          <p:nvPr/>
        </p:nvSpPr>
        <p:spPr>
          <a:xfrm>
            <a:off x="759125" y="1320972"/>
            <a:ext cx="7901795" cy="65043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sz="3200" b="1" noProof="0" dirty="0">
                <a:solidFill>
                  <a:srgbClr val="C0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is “Rouge Gagne, Noir Perd”?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E065A-9F65-AFB1-671F-313E56F8F526}"/>
              </a:ext>
            </a:extLst>
          </p:cNvPr>
          <p:cNvSpPr txBox="1"/>
          <p:nvPr/>
        </p:nvSpPr>
        <p:spPr>
          <a:xfrm>
            <a:off x="1052428" y="4305713"/>
            <a:ext cx="7263440" cy="14337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Visual attention: 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follow the Red card.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Memory: 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remember its position after fast shuffling.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Decision-making: 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pick the right card quickly.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90BEA-7A6D-5B5E-8323-F99BA9BDB6B4}"/>
              </a:ext>
            </a:extLst>
          </p:cNvPr>
          <p:cNvSpPr txBox="1"/>
          <p:nvPr/>
        </p:nvSpPr>
        <p:spPr>
          <a:xfrm>
            <a:off x="741873" y="2356142"/>
            <a:ext cx="9092240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“Rouge Gagne, Noir Perd” is an </a:t>
            </a: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interactive card game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where players track a </a:t>
            </a:r>
            <a:r>
              <a:rPr lang="en-US" sz="240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red card 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among three shuffled cards within a time limit</a:t>
            </a:r>
          </a:p>
          <a:p>
            <a:pPr marL="342900" indent="-342900">
              <a:buFont typeface="Wingdings" panose="05000000000000000000" pitchFamily="2" charset="2"/>
              <a:buChar char="q"/>
              <a:defRPr/>
            </a:pPr>
            <a:endParaRPr lang="en-US" sz="2400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6A3465-5E45-92A0-AF19-3C40A79CBB1E}"/>
              </a:ext>
            </a:extLst>
          </p:cNvPr>
          <p:cNvSpPr txBox="1"/>
          <p:nvPr/>
        </p:nvSpPr>
        <p:spPr>
          <a:xfrm>
            <a:off x="793629" y="3701861"/>
            <a:ext cx="5055079" cy="5806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the Game Teaches?</a:t>
            </a:r>
          </a:p>
        </p:txBody>
      </p:sp>
    </p:spTree>
    <p:extLst>
      <p:ext uri="{BB962C8B-B14F-4D97-AF65-F5344CB8AC3E}">
        <p14:creationId xmlns:p14="http://schemas.microsoft.com/office/powerpoint/2010/main" val="1825731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C55D-1DFF-6CFF-B48A-5A7934FC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16F03C-4901-769F-2ABE-164ACBB89604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89B892-65B3-9123-825C-AC6559B309B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9E8835-15C4-2A28-401E-AD39B89368EA}"/>
              </a:ext>
            </a:extLst>
          </p:cNvPr>
          <p:cNvSpPr txBox="1"/>
          <p:nvPr/>
        </p:nvSpPr>
        <p:spPr>
          <a:xfrm>
            <a:off x="634042" y="409439"/>
            <a:ext cx="10632056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FFC000"/>
                </a:solidFill>
                <a:latin typeface="Poppins"/>
              </a:rPr>
              <a:t>MODULES COVERED</a:t>
            </a:r>
            <a:endParaRPr lang="en-US" sz="1050" noProof="0" dirty="0">
              <a:solidFill>
                <a:srgbClr val="FFC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296CFD-D478-9D76-F9F0-B23A4CBC9672}"/>
              </a:ext>
            </a:extLst>
          </p:cNvPr>
          <p:cNvSpPr/>
          <p:nvPr/>
        </p:nvSpPr>
        <p:spPr>
          <a:xfrm>
            <a:off x="586597" y="3847381"/>
            <a:ext cx="3899140" cy="3416059"/>
          </a:xfrm>
          <a:prstGeom prst="roundRect">
            <a:avLst>
              <a:gd name="adj" fmla="val 2084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5"/>
            </a:solidFill>
          </a:ln>
          <a:scene3d>
            <a:camera prst="obliqueTopLef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noProof="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50B1F3-397E-46FA-0745-7339FC01E61E}"/>
              </a:ext>
            </a:extLst>
          </p:cNvPr>
          <p:cNvSpPr/>
          <p:nvPr/>
        </p:nvSpPr>
        <p:spPr>
          <a:xfrm>
            <a:off x="4623759" y="2984739"/>
            <a:ext cx="4140679" cy="4295955"/>
          </a:xfrm>
          <a:prstGeom prst="roundRect">
            <a:avLst>
              <a:gd name="adj" fmla="val 2084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C00000"/>
            </a:solidFill>
          </a:ln>
          <a:scene3d>
            <a:camera prst="obliqueTopLef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noProof="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74D37A-257E-2A1D-8BFA-E7C5B9D12AEA}"/>
              </a:ext>
            </a:extLst>
          </p:cNvPr>
          <p:cNvSpPr/>
          <p:nvPr/>
        </p:nvSpPr>
        <p:spPr>
          <a:xfrm>
            <a:off x="8885208" y="2294627"/>
            <a:ext cx="4934309" cy="4986069"/>
          </a:xfrm>
          <a:prstGeom prst="roundRect">
            <a:avLst>
              <a:gd name="adj" fmla="val 2084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B050"/>
            </a:solidFill>
          </a:ln>
          <a:scene3d>
            <a:camera prst="obliqueTopLef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noProof="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1C37BE-F837-A6DC-E860-89EA08CFFA14}"/>
              </a:ext>
            </a:extLst>
          </p:cNvPr>
          <p:cNvSpPr txBox="1"/>
          <p:nvPr/>
        </p:nvSpPr>
        <p:spPr>
          <a:xfrm>
            <a:off x="4744529" y="1846052"/>
            <a:ext cx="3743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Object Oriented Design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D125DA-F03C-ED4C-25C5-72B1FAA4B82F}"/>
              </a:ext>
            </a:extLst>
          </p:cNvPr>
          <p:cNvSpPr txBox="1"/>
          <p:nvPr/>
        </p:nvSpPr>
        <p:spPr>
          <a:xfrm>
            <a:off x="690114" y="2725946"/>
            <a:ext cx="3743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Basic Python Concepts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667C4B-ED39-88EA-574A-3813A13EC982}"/>
              </a:ext>
            </a:extLst>
          </p:cNvPr>
          <p:cNvSpPr txBox="1"/>
          <p:nvPr/>
        </p:nvSpPr>
        <p:spPr>
          <a:xfrm>
            <a:off x="9540816" y="1242202"/>
            <a:ext cx="3743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noProof="0" dirty="0">
                <a:solidFill>
                  <a:srgbClr val="00B05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Advanced Topics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D66052-4239-785F-4E33-A1CACD42ACDA}"/>
              </a:ext>
            </a:extLst>
          </p:cNvPr>
          <p:cNvSpPr txBox="1"/>
          <p:nvPr/>
        </p:nvSpPr>
        <p:spPr>
          <a:xfrm>
            <a:off x="4796287" y="3657597"/>
            <a:ext cx="3743864" cy="348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Classes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Objects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Attributes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Methods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Encapsulation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40C178-5562-EE55-E161-BA1064A98914}"/>
              </a:ext>
            </a:extLst>
          </p:cNvPr>
          <p:cNvSpPr txBox="1"/>
          <p:nvPr/>
        </p:nvSpPr>
        <p:spPr>
          <a:xfrm>
            <a:off x="776380" y="3743864"/>
            <a:ext cx="3554080" cy="3489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Variables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ty</a:t>
            </a:r>
            <a:r>
              <a:rPr lang="en-US" sz="3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Control </a:t>
            </a:r>
            <a:r>
              <a:rPr lang="en-US" sz="3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</a:t>
            </a: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</a:t>
            </a:r>
            <a:r>
              <a:rPr lang="en-US" sz="3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Functions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Libraries</a:t>
            </a:r>
            <a:endParaRPr lang="en-US" sz="3000" b="1" noProof="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4A696-BC2A-D6A8-9AE3-DEAE0A451F98}"/>
              </a:ext>
            </a:extLst>
          </p:cNvPr>
          <p:cNvSpPr txBox="1"/>
          <p:nvPr/>
        </p:nvSpPr>
        <p:spPr>
          <a:xfrm>
            <a:off x="8936968" y="2932980"/>
            <a:ext cx="4658263" cy="4301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Event-driven programming with Pygame</a:t>
            </a:r>
          </a:p>
          <a:p>
            <a:endParaRPr lang="en-US" sz="11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GUI development</a:t>
            </a:r>
          </a:p>
          <a:p>
            <a:pPr>
              <a:lnSpc>
                <a:spcPct val="150000"/>
              </a:lnSpc>
            </a:pPr>
            <a:endParaRPr lang="en-US" sz="1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persistence with JSON</a:t>
            </a:r>
          </a:p>
          <a:p>
            <a:endParaRPr lang="en-US" sz="1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7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Modular architecture design</a:t>
            </a:r>
          </a:p>
        </p:txBody>
      </p:sp>
    </p:spTree>
    <p:extLst>
      <p:ext uri="{BB962C8B-B14F-4D97-AF65-F5344CB8AC3E}">
        <p14:creationId xmlns:p14="http://schemas.microsoft.com/office/powerpoint/2010/main" val="279940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85EE-75EC-2839-A2D6-6016F6B4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46083B6-E786-0394-A815-D4F7B76A27F9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A771F-CC67-EA72-4324-915EB31568FC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94576-7909-6968-3DD8-90F8E4C47D18}"/>
              </a:ext>
            </a:extLst>
          </p:cNvPr>
          <p:cNvSpPr txBox="1"/>
          <p:nvPr/>
        </p:nvSpPr>
        <p:spPr>
          <a:xfrm>
            <a:off x="513271" y="357680"/>
            <a:ext cx="10597552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solidFill>
                  <a:srgbClr val="FFC000"/>
                </a:solidFill>
                <a:latin typeface="Poppins"/>
              </a:rPr>
              <a:t>PROJECT ACHITECTURE </a:t>
            </a:r>
            <a:endParaRPr lang="en-US" sz="1050" noProof="0" dirty="0">
              <a:solidFill>
                <a:srgbClr val="FFC000"/>
              </a:solidFill>
            </a:endParaRPr>
          </a:p>
        </p:txBody>
      </p:sp>
      <p:pic>
        <p:nvPicPr>
          <p:cNvPr id="5" name="Picture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BFB22D60-9382-8900-87D1-C08CBF91CDC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068" y="362309"/>
            <a:ext cx="13560724" cy="7177178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5F6CB5-E845-E3F4-6FDD-2117CF33BFFA}"/>
              </a:ext>
            </a:extLst>
          </p:cNvPr>
          <p:cNvSpPr txBox="1"/>
          <p:nvPr/>
        </p:nvSpPr>
        <p:spPr>
          <a:xfrm>
            <a:off x="665671" y="510080"/>
            <a:ext cx="4579189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PROJECT ARCHITECTURE </a:t>
            </a:r>
            <a:endParaRPr lang="en-US" sz="1050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E6B731-613C-8E18-6617-63CAD7AD7DE6}"/>
              </a:ext>
            </a:extLst>
          </p:cNvPr>
          <p:cNvSpPr/>
          <p:nvPr/>
        </p:nvSpPr>
        <p:spPr>
          <a:xfrm>
            <a:off x="6832121" y="690113"/>
            <a:ext cx="569343" cy="37956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563FA9-E9EC-4BA4-A11D-73631E6C6D1A}"/>
              </a:ext>
            </a:extLst>
          </p:cNvPr>
          <p:cNvSpPr/>
          <p:nvPr/>
        </p:nvSpPr>
        <p:spPr>
          <a:xfrm>
            <a:off x="3605841" y="2812212"/>
            <a:ext cx="1155940" cy="396814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3084DE-CAF6-9E75-4FF4-68302CDC3585}"/>
              </a:ext>
            </a:extLst>
          </p:cNvPr>
          <p:cNvSpPr/>
          <p:nvPr/>
        </p:nvSpPr>
        <p:spPr>
          <a:xfrm>
            <a:off x="6832120" y="3157268"/>
            <a:ext cx="603847" cy="34505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F30097-1846-75A7-C780-BFEA249B1BB9}"/>
              </a:ext>
            </a:extLst>
          </p:cNvPr>
          <p:cNvSpPr/>
          <p:nvPr/>
        </p:nvSpPr>
        <p:spPr>
          <a:xfrm>
            <a:off x="12249509" y="5831458"/>
            <a:ext cx="1242204" cy="36231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06D30-DD08-C5DC-66B3-7116AD073E26}"/>
              </a:ext>
            </a:extLst>
          </p:cNvPr>
          <p:cNvSpPr/>
          <p:nvPr/>
        </p:nvSpPr>
        <p:spPr>
          <a:xfrm>
            <a:off x="1121433" y="2812211"/>
            <a:ext cx="828137" cy="3450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560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D5D8E-912C-5EB2-8390-4A3F354E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DCE67AA-9711-4DB1-506B-1899307A52DC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5F8A8-20F1-CD5D-73A4-B6D6152E871A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FE3350-B3C0-01D8-6923-854A58B5A2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9562" y="362309"/>
            <a:ext cx="13629736" cy="7228935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9102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A07C-E31E-B654-4B3C-2AD40AD8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16A725F-E235-C0D9-692C-E04C9992D8CB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32840-BDE7-8B92-7BC5-F50F78A8A2CC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575A39-F868-EAEC-A91C-B083145B4002}"/>
              </a:ext>
            </a:extLst>
          </p:cNvPr>
          <p:cNvSpPr txBox="1"/>
          <p:nvPr/>
        </p:nvSpPr>
        <p:spPr>
          <a:xfrm>
            <a:off x="6514381" y="7227049"/>
            <a:ext cx="2540480" cy="40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b="1" noProof="0" dirty="0">
                <a:latin typeface="Poppins"/>
              </a:rPr>
              <a:t>TESTING SUMMARY </a:t>
            </a:r>
            <a:endParaRPr lang="en-US" sz="800" noProof="0" dirty="0"/>
          </a:p>
        </p:txBody>
      </p:sp>
      <p:pic>
        <p:nvPicPr>
          <p:cNvPr id="3" name="Picture 2" descr="A screenshot of a test description&#10;&#10;AI-generated content may be incorrect.">
            <a:extLst>
              <a:ext uri="{FF2B5EF4-FFF2-40B4-BE49-F238E27FC236}">
                <a16:creationId xmlns:a16="http://schemas.microsoft.com/office/drawing/2014/main" id="{1A76D72E-1B19-41EE-11BA-8CF91F5A57B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5" y="362309"/>
            <a:ext cx="13595230" cy="721168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  <a:scene3d>
            <a:camera prst="obliqueTop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782190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9BDE0-DE7F-D6F0-21E0-315F31FE7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07F327-8863-2A3F-8DFE-19A0C98C7D16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354DA6-9064-8D42-845A-BE1C7B3CF397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BB636B-B8E0-C8F0-FD4D-2A4C041A7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52" y="1109282"/>
            <a:ext cx="7899920" cy="1715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Purpose: </a:t>
            </a:r>
            <a:r>
              <a:rPr kumimoji="0" lang="en-US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Represents the player’s identity and resources.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Attributes: </a:t>
            </a:r>
            <a:r>
              <a:rPr kumimoji="0" lang="en-US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name, balance, initial_balance, avatar_index.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Encapsulation: </a:t>
            </a:r>
            <a:r>
              <a:rPr kumimoji="0" lang="en-US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Keeps player data organized and easy to manage.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Role: </a:t>
            </a:r>
            <a:r>
              <a:rPr kumimoji="0" lang="en-US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Forms the foundation for betting and game logic. </a:t>
            </a:r>
          </a:p>
        </p:txBody>
      </p:sp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C88E26D-383F-402F-E767-AF3806966D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4" y="327804"/>
            <a:ext cx="13612483" cy="7228936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3F942F9F-C8CC-E5CD-6E7A-325DC46250F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5654" y="5348377"/>
            <a:ext cx="3614390" cy="2018582"/>
          </a:xfrm>
          <a:prstGeom prst="rect">
            <a:avLst/>
          </a:prstGeom>
          <a:ln w="57150">
            <a:solidFill>
              <a:srgbClr val="FFC000"/>
            </a:solidFill>
            <a:prstDash val="sysDash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54AECC-457B-FF03-352E-6062E364A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515" y="657669"/>
            <a:ext cx="7573992" cy="1887696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scene3d>
            <a:camera prst="obliqueTopLef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 Class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Represents the player’s identity and resources.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Attributes: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nickname, avatar_index,</a:t>
            </a:r>
            <a:r>
              <a:rPr lang="en-US" sz="20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initial_balance, balance.</a:t>
            </a:r>
            <a:endParaRPr kumimoji="0" lang="en-US" sz="2000" b="0" i="0" u="none" strike="noStrike" cap="none" normalizeH="0" baseline="0" noProof="0" dirty="0">
              <a:ln>
                <a:noFill/>
              </a:ln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Encapsulation: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Keeps player data organized and easy to manage.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Role: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Forms the foundation for betting and game logic. </a:t>
            </a:r>
          </a:p>
        </p:txBody>
      </p:sp>
    </p:spTree>
    <p:extLst>
      <p:ext uri="{BB962C8B-B14F-4D97-AF65-F5344CB8AC3E}">
        <p14:creationId xmlns:p14="http://schemas.microsoft.com/office/powerpoint/2010/main" val="1799989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9408-94B3-7DC1-1035-9D9566A4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7432B5-2D7F-18E3-55EA-D908DE220BF8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03F30-854D-62C8-9571-FBE0CBDBBBDF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B8448-3FF6-F08C-EACF-5A9F4FD84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252" y="1019129"/>
            <a:ext cx="8903399" cy="1895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Purpose: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Represents the player’s 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bet in each round.</a:t>
            </a:r>
            <a:endParaRPr kumimoji="0" lang="en-US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Attributes: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amount(base bet), turbo(X1, X2, X3), (min: 10 - max 100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1" i="0" u="none" strike="noStrike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Encapsulation: </a:t>
            </a:r>
            <a:r>
              <a:rPr kumimoji="0" lang="en-US" sz="2000" b="0" i="0" u="none" strike="noStrike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Keeps betting logic separate from player identity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cap="none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Role: </a:t>
            </a:r>
            <a:r>
              <a:rPr lang="en-US" sz="2000" noProof="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Ensures bets are valid and consistent</a:t>
            </a:r>
            <a:endParaRPr kumimoji="0" lang="en-US" sz="2000" b="0" i="0" u="none" strike="noStrike" cap="none" normalizeH="0" baseline="0" noProof="0" dirty="0">
              <a:ln>
                <a:noFill/>
              </a:ln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9FC5CEE-9610-B90C-833F-3A331B749B8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5" y="379562"/>
            <a:ext cx="13629737" cy="7194429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1" name="Picture 10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7F2D9D01-3CBD-DC7C-3B2E-D183AFE1A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101" y="5365629"/>
            <a:ext cx="4031638" cy="2001328"/>
          </a:xfrm>
          <a:prstGeom prst="rect">
            <a:avLst/>
          </a:prstGeom>
          <a:ln w="57150">
            <a:solidFill>
              <a:srgbClr val="FFC000"/>
            </a:solidFill>
            <a:prstDash val="sysDash"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11108F-E257-2A28-55DE-6BBCC5B4B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064" y="713052"/>
            <a:ext cx="7417415" cy="1708160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 Class </a:t>
            </a:r>
            <a:r>
              <a:rPr kumimoji="0" lang="en-US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Represents the player’s 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bet in each round</a:t>
            </a:r>
            <a:r>
              <a:rPr lang="en-US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kumimoji="0" lang="en-US" b="1" i="0" u="none" strike="noStrike" cap="none" normalizeH="0" baseline="0" noProof="0" dirty="0">
              <a:ln>
                <a:noFill/>
              </a:ln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Attributes: </a:t>
            </a:r>
            <a:r>
              <a:rPr kumimoji="0" lang="en-US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amount(base bet), turbo(X1, X2, X3), (min: 10 - max 100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r>
              <a:rPr kumimoji="0" lang="en-US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Encapsulation: </a:t>
            </a:r>
            <a:r>
              <a:rPr kumimoji="0" lang="en-US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Keeps betting logic separate from player identity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Role</a:t>
            </a:r>
            <a:r>
              <a:rPr kumimoji="0" lang="en-US" b="0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Ensures bets are valid and consistent</a:t>
            </a:r>
            <a:endParaRPr kumimoji="0" lang="en-US" i="0" u="none" strike="noStrike" cap="none" normalizeH="0" baseline="0" noProof="0" dirty="0">
              <a:ln>
                <a:noFill/>
              </a:ln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8904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9046-3B14-E7C9-7A4A-1E61FB05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FAB967-74E5-7661-E0DE-C51AE271F848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FD84D-5F7D-F371-FEFB-A72E0872D053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6EBAA83-A6CB-73FA-9554-6BAF387F27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7833" y="345057"/>
            <a:ext cx="13584212" cy="719443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C5535642-24CF-6998-4B21-525F0C605A6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67955" y="1121433"/>
            <a:ext cx="4848046" cy="6262779"/>
          </a:xfrm>
          <a:prstGeom prst="rect">
            <a:avLst/>
          </a:prstGeom>
          <a:ln w="5715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2006396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267B-9BA1-E51C-0BD4-92E2FA77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6E26EC3-BCEC-FB00-5211-E97D1404D043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A21362-21FA-2BA3-FF65-8BFEF11FE0C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98BA869-3A60-0786-12BC-156A08990AC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069" y="362310"/>
            <a:ext cx="13560724" cy="721168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197FEE4-6B46-4DD1-4AE3-B6E9D2594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810" y="3223810"/>
            <a:ext cx="7233070" cy="1620957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 Class Represents a single card in the game.</a:t>
            </a:r>
            <a:endParaRPr kumimoji="0" lang="en-US" sz="1600" b="1" i="0" u="none" strike="noStrike" cap="none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Attributes: </a:t>
            </a: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rect (position)</a:t>
            </a:r>
            <a:r>
              <a:rPr lang="en-US" sz="1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is_red(true/false), face (“BACK” OR “FRONT”)</a:t>
            </a:r>
            <a:endParaRPr kumimoji="0" lang="en-US" sz="1600" b="1" i="0" u="none" strike="noStrike" cap="none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sz="1600" b="1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Keeps card visuals and logic modular.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16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Used by CardGame to build the round and resolve outcomes.</a:t>
            </a:r>
          </a:p>
        </p:txBody>
      </p:sp>
      <p:pic>
        <p:nvPicPr>
          <p:cNvPr id="11" name="Picture 10" descr="A card with a red and white checkered background&#10;&#10;AI-generated content may be incorrect.">
            <a:extLst>
              <a:ext uri="{FF2B5EF4-FFF2-40B4-BE49-F238E27FC236}">
                <a16:creationId xmlns:a16="http://schemas.microsoft.com/office/drawing/2014/main" id="{196E3138-A1DC-6748-2A10-96FF6FF206A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70519" y="5472724"/>
            <a:ext cx="1411836" cy="1843379"/>
          </a:xfrm>
          <a:prstGeom prst="rect">
            <a:avLst/>
          </a:prstGeom>
        </p:spPr>
      </p:pic>
      <p:pic>
        <p:nvPicPr>
          <p:cNvPr id="13" name="Picture 12" descr="A card with a heart symbol&#10;&#10;AI-generated content may be incorrect.">
            <a:extLst>
              <a:ext uri="{FF2B5EF4-FFF2-40B4-BE49-F238E27FC236}">
                <a16:creationId xmlns:a16="http://schemas.microsoft.com/office/drawing/2014/main" id="{ED02CD43-DA31-D833-1A59-D286DEF5DB9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0702" y="5469147"/>
            <a:ext cx="1420901" cy="1848756"/>
          </a:xfrm>
          <a:prstGeom prst="rect">
            <a:avLst/>
          </a:prstGeom>
        </p:spPr>
      </p:pic>
      <p:pic>
        <p:nvPicPr>
          <p:cNvPr id="15" name="Picture 14" descr="A close-up of a card&#10;&#10;AI-generated content may be incorrect.">
            <a:extLst>
              <a:ext uri="{FF2B5EF4-FFF2-40B4-BE49-F238E27FC236}">
                <a16:creationId xmlns:a16="http://schemas.microsoft.com/office/drawing/2014/main" id="{EF58D17D-92EF-109D-1850-341C400825BA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9940" y="5469147"/>
            <a:ext cx="1420901" cy="184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568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E6A5B-C1BA-5954-271A-633766244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902D4D-51BD-1492-2A2A-B12EE2680678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E15488-E8E3-2BCD-2837-A9152134234F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B79A371-0EB7-628C-34A5-70B7D704E9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068" y="363337"/>
            <a:ext cx="13577977" cy="719340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9D75DC6-A017-CB60-6643-632E2ED7B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262" y="746838"/>
            <a:ext cx="9174306" cy="2123658"/>
          </a:xfrm>
          <a:prstGeom prst="rect">
            <a:avLst/>
          </a:prstGeom>
          <a:noFill/>
          <a:ln w="76200">
            <a:solidFill>
              <a:srgbClr val="0070C0"/>
            </a:solidFill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CardGame Class </a:t>
            </a:r>
            <a:r>
              <a:rPr lang="en-US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 the central controller that manages game logic, screen rendering,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     and state transitions.</a:t>
            </a:r>
            <a:endParaRPr kumimoji="0" lang="en-US" i="0" u="none" strike="noStrike" cap="none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Attributes: </a:t>
            </a:r>
            <a:r>
              <a:rPr lang="en-US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screen, user, bet and screen dimensions w, h</a:t>
            </a:r>
            <a:endParaRPr kumimoji="0" lang="en-US" i="0" u="none" strike="noStrike" cap="none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Encapsulation: </a:t>
            </a:r>
            <a:r>
              <a:rPr kumimoji="0" lang="en-US" i="0" u="none" strike="noStrike" cap="none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Keeps logic modular, extensible, and testable.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b="1" i="0" u="none" strike="noStrike" cap="none" normalizeH="0" baseline="0" noProof="0" dirty="0">
                <a:ln>
                  <a:noFill/>
                </a:ln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Role</a:t>
            </a:r>
            <a:r>
              <a:rPr kumimoji="0" lang="en-US" b="1" i="0" u="none" strike="noStrike" cap="none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Coordinates all gameplay phases and connects external modules. </a:t>
            </a:r>
            <a:endParaRPr kumimoji="0" lang="en-US" i="0" u="none" strike="noStrike" cap="none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19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6A9F4-B3A9-2E7B-F3E2-C11592AB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ADF5262-99CE-224C-0BDD-EFF764E06A30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02730-2798-12B3-103A-C8B6A60AFB40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1E54007-D74A-D6FE-5BD8-DADA13EB483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068" y="345057"/>
            <a:ext cx="13577978" cy="721168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87B617-BBB3-9FBD-965D-F064FF9BE128}"/>
              </a:ext>
            </a:extLst>
          </p:cNvPr>
          <p:cNvSpPr txBox="1"/>
          <p:nvPr/>
        </p:nvSpPr>
        <p:spPr>
          <a:xfrm>
            <a:off x="4012720" y="510080"/>
            <a:ext cx="1902125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METHOD 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2623477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B4DE-A840-2ABB-F0F7-90708410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9A3836-E9D1-D7F1-8C46-ED134F42B539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EC56AE-4346-EB21-1821-82329A16708B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D9606A9-BB05-4F12-509E-B55240CC7A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5" y="362309"/>
            <a:ext cx="13595229" cy="7211684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A5B041-929B-26B2-E8CA-F2627E4B12A7}"/>
              </a:ext>
            </a:extLst>
          </p:cNvPr>
          <p:cNvSpPr txBox="1"/>
          <p:nvPr/>
        </p:nvSpPr>
        <p:spPr>
          <a:xfrm>
            <a:off x="4461294" y="234035"/>
            <a:ext cx="1902125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METHOD 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2493234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4817-9983-60E9-62D3-C089BFE69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F5F23EF-7881-9D79-A9F6-C0A6034E500E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CFBD5-5833-C151-B1C3-99ED4A05B21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3" name="Picture 2" descr="A white text with red and black text&#10;&#10;AI-generated content may be incorrect.">
            <a:extLst>
              <a:ext uri="{FF2B5EF4-FFF2-40B4-BE49-F238E27FC236}">
                <a16:creationId xmlns:a16="http://schemas.microsoft.com/office/drawing/2014/main" id="{97AA1049-4F27-95EC-22CB-C0FEC7D7F7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5" y="345057"/>
            <a:ext cx="13612482" cy="7211684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AD43C6-D5AD-4754-E82D-23AC032345BE}"/>
              </a:ext>
            </a:extLst>
          </p:cNvPr>
          <p:cNvSpPr txBox="1"/>
          <p:nvPr/>
        </p:nvSpPr>
        <p:spPr>
          <a:xfrm>
            <a:off x="1614573" y="544586"/>
            <a:ext cx="10597552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DASHBOARD INTEGRATION 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26913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B160-43B9-C5C6-0FF5-F88C612A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F7AA4B-9A3B-CB11-C6ED-2FEC7FE0C099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A7D1F-B59D-55D0-BD73-D6AFED3A9A3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87CC1DC-F12D-34B9-68D2-91926D5EA65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6815" y="327804"/>
            <a:ext cx="13595230" cy="7228935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624932-7002-4E78-E295-FF365D18AD23}"/>
              </a:ext>
            </a:extLst>
          </p:cNvPr>
          <p:cNvSpPr txBox="1"/>
          <p:nvPr/>
        </p:nvSpPr>
        <p:spPr>
          <a:xfrm>
            <a:off x="3802661" y="1372722"/>
            <a:ext cx="4185399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MAIN FUNCTION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1343349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7EC12-E240-8D17-E891-889D740E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E79E225-0428-5D89-6836-6D3165B328DC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434FD6-86F2-0B04-EB3D-84C329EC464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69484A0-986E-6D04-F149-4B99ED7E5B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4069" y="345057"/>
            <a:ext cx="13543472" cy="721168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03B2B2-9C77-2D08-5670-DCD01AC3ED99}"/>
              </a:ext>
            </a:extLst>
          </p:cNvPr>
          <p:cNvSpPr txBox="1"/>
          <p:nvPr/>
        </p:nvSpPr>
        <p:spPr>
          <a:xfrm>
            <a:off x="6476850" y="1113930"/>
            <a:ext cx="2908689" cy="580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sz="2800" b="1" noProof="0" dirty="0">
                <a:latin typeface="Poppins"/>
              </a:rPr>
              <a:t>GAME LOOP</a:t>
            </a:r>
            <a:endParaRPr lang="en-US" sz="1050" noProof="0" dirty="0"/>
          </a:p>
        </p:txBody>
      </p:sp>
    </p:spTree>
    <p:extLst>
      <p:ext uri="{BB962C8B-B14F-4D97-AF65-F5344CB8AC3E}">
        <p14:creationId xmlns:p14="http://schemas.microsoft.com/office/powerpoint/2010/main" val="378022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D43C-E1D2-45BC-4A48-842DB4FEB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58667B-6A17-9FA5-7651-9C3AE8CA5769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E59F79-1723-B452-0E9C-34C72E30AE74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" name="Picture 1" descr="A diagram with text and colorful labels&#10;&#10;AI-generated content may be incorrect.">
            <a:extLst>
              <a:ext uri="{FF2B5EF4-FFF2-40B4-BE49-F238E27FC236}">
                <a16:creationId xmlns:a16="http://schemas.microsoft.com/office/drawing/2014/main" id="{87FBF978-425D-98D1-3ABA-7DA18627C7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563" y="224287"/>
            <a:ext cx="13612484" cy="7332453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BAED0A-78CE-6EF7-D809-7D509F490DEC}"/>
              </a:ext>
            </a:extLst>
          </p:cNvPr>
          <p:cNvSpPr txBox="1"/>
          <p:nvPr/>
        </p:nvSpPr>
        <p:spPr>
          <a:xfrm>
            <a:off x="5168658" y="7194430"/>
            <a:ext cx="4510180" cy="40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b="1" noProof="0" dirty="0">
                <a:latin typeface="Poppins"/>
              </a:rPr>
              <a:t>SEQUENCE DIAGRAM (ONE ROUND) </a:t>
            </a:r>
            <a:endParaRPr lang="en-US" sz="800" noProof="0" dirty="0"/>
          </a:p>
        </p:txBody>
      </p:sp>
    </p:spTree>
    <p:extLst>
      <p:ext uri="{BB962C8B-B14F-4D97-AF65-F5344CB8AC3E}">
        <p14:creationId xmlns:p14="http://schemas.microsoft.com/office/powerpoint/2010/main" val="742550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5C14-FA45-A02D-0D55-5E22A3DE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7C6D1FB-E787-DCEF-454C-F52294CCE36E}"/>
              </a:ext>
            </a:extLst>
          </p:cNvPr>
          <p:cNvSpPr/>
          <p:nvPr/>
        </p:nvSpPr>
        <p:spPr>
          <a:xfrm>
            <a:off x="51759" y="0"/>
            <a:ext cx="14268091" cy="792003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17551-7014-2B6F-BD19-9136B3AD4CF2}"/>
              </a:ext>
            </a:extLst>
          </p:cNvPr>
          <p:cNvSpPr/>
          <p:nvPr/>
        </p:nvSpPr>
        <p:spPr>
          <a:xfrm>
            <a:off x="188624" y="142830"/>
            <a:ext cx="14027708" cy="7638196"/>
          </a:xfrm>
          <a:prstGeom prst="rect">
            <a:avLst/>
          </a:prstGeom>
          <a:noFill/>
          <a:ln w="3873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282C0-4628-DEBC-331E-C8ED022BD81F}"/>
              </a:ext>
            </a:extLst>
          </p:cNvPr>
          <p:cNvSpPr txBox="1"/>
          <p:nvPr/>
        </p:nvSpPr>
        <p:spPr>
          <a:xfrm>
            <a:off x="565030" y="410558"/>
            <a:ext cx="7203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PERSPECTIVES &amp; </a:t>
            </a:r>
            <a:r>
              <a:rPr lang="en-US" sz="2800" b="1" noProof="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E1050-363E-069E-6593-BA186E515B00}"/>
              </a:ext>
            </a:extLst>
          </p:cNvPr>
          <p:cNvSpPr txBox="1"/>
          <p:nvPr/>
        </p:nvSpPr>
        <p:spPr>
          <a:xfrm>
            <a:off x="1030855" y="1877048"/>
            <a:ext cx="7750835" cy="18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Built a modular, testable card game with clear state flow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Applied OOP and functional testing successfully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Achieved smooth gameplay and responsive user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20621-9586-84A6-7AFE-B0C6E345A418}"/>
              </a:ext>
            </a:extLst>
          </p:cNvPr>
          <p:cNvSpPr txBox="1"/>
          <p:nvPr/>
        </p:nvSpPr>
        <p:spPr>
          <a:xfrm>
            <a:off x="7190117" y="3740354"/>
            <a:ext cx="5784012" cy="18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 animations for better feedback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Expand dashboard with more stats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b="1" noProof="0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Explore multiplayer and mobile adaptation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413E2-0B95-2FC7-C0FC-3F26D27269A2}"/>
              </a:ext>
            </a:extLst>
          </p:cNvPr>
          <p:cNvSpPr txBox="1"/>
          <p:nvPr/>
        </p:nvSpPr>
        <p:spPr>
          <a:xfrm>
            <a:off x="1069678" y="5704793"/>
            <a:ext cx="110418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References</a:t>
            </a:r>
          </a:p>
          <a:p>
            <a:endParaRPr lang="en-US" sz="2400" b="1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Python Software Foundation, Python Documentation, </a:t>
            </a:r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</a:t>
            </a:r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Pygame Community, Pygame Documentation, </a:t>
            </a:r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https://www.pygame.org/docs</a:t>
            </a:r>
            <a:r>
              <a:rPr lang="en-US" sz="2000" b="1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ALPRO Course Material, 2025.</a:t>
            </a:r>
          </a:p>
        </p:txBody>
      </p:sp>
    </p:spTree>
    <p:extLst>
      <p:ext uri="{BB962C8B-B14F-4D97-AF65-F5344CB8AC3E}">
        <p14:creationId xmlns:p14="http://schemas.microsoft.com/office/powerpoint/2010/main" val="1854834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Presentation_Alpro</Template>
  <TotalTime>2264</TotalTime>
  <Words>593</Words>
  <Application>Microsoft Office PowerPoint</Application>
  <PresentationFormat>Custom</PresentationFormat>
  <Paragraphs>93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Poppins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Denos Kume</dc:creator>
  <cp:lastModifiedBy>Denos Kume</cp:lastModifiedBy>
  <cp:revision>4</cp:revision>
  <cp:lastPrinted>2025-12-12T06:37:07Z</cp:lastPrinted>
  <dcterms:created xsi:type="dcterms:W3CDTF">2025-12-11T05:59:47Z</dcterms:created>
  <dcterms:modified xsi:type="dcterms:W3CDTF">2025-12-19T09:22:03Z</dcterms:modified>
</cp:coreProperties>
</file>